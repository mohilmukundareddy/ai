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Economica"/>
      <p:regular r:id="rId19"/>
      <p:bold r:id="rId20"/>
      <p:italic r:id="rId21"/>
      <p:boldItalic r:id="rId22"/>
    </p:embeddedFont>
    <p:embeddedFont>
      <p:font typeface="Open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Economica-bold.fntdata"/><Relationship Id="rId22" Type="http://schemas.openxmlformats.org/officeDocument/2006/relationships/font" Target="fonts/Economica-boldItalic.fntdata"/><Relationship Id="rId21" Type="http://schemas.openxmlformats.org/officeDocument/2006/relationships/font" Target="fonts/Economica-italic.fntdata"/><Relationship Id="rId24" Type="http://schemas.openxmlformats.org/officeDocument/2006/relationships/font" Target="fonts/OpenSans-bold.fntdata"/><Relationship Id="rId23" Type="http://schemas.openxmlformats.org/officeDocument/2006/relationships/font" Target="fonts/OpenSa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boldItalic.fntdata"/><Relationship Id="rId25" Type="http://schemas.openxmlformats.org/officeDocument/2006/relationships/font" Target="fonts/Open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Economica-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1708798e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1708798e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1708798e7f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1708798e7f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1708798e7f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1708798e7f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1708798e7f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1708798e7f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1708798e7f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1708798e7f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185011c5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185011c5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185011c5f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185011c5f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185011c5f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185011c5f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185011c5f7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185011c5f7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185011c5f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185011c5f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185011c5f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185011c5f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185011c5f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185011c5f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aclanthology.org/2020.acl-main.225.pdf" TargetMode="Externa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224475"/>
            <a:ext cx="3054600" cy="1347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Attribute Value Extraction</a:t>
            </a:r>
            <a:endParaRPr/>
          </a:p>
        </p:txBody>
      </p:sp>
      <p:sp>
        <p:nvSpPr>
          <p:cNvPr id="63" name="Google Shape;63;p13"/>
          <p:cNvSpPr txBox="1"/>
          <p:nvPr>
            <p:ph idx="1" type="subTitle"/>
          </p:nvPr>
        </p:nvSpPr>
        <p:spPr>
          <a:xfrm>
            <a:off x="2773725" y="3116575"/>
            <a:ext cx="3628800" cy="963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  AI21BTECH11021 - Mukunda Reddy</a:t>
            </a:r>
            <a:endParaRPr/>
          </a:p>
          <a:p>
            <a:pPr indent="0" lvl="0" marL="0" rtl="0" algn="ctr">
              <a:spcBef>
                <a:spcPts val="0"/>
              </a:spcBef>
              <a:spcAft>
                <a:spcPts val="0"/>
              </a:spcAft>
              <a:buNone/>
            </a:pPr>
            <a:r>
              <a:rPr lang="en"/>
              <a:t>AI21BTECH11006 - Naresh Kumar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Previous Work</a:t>
            </a:r>
            <a:endParaRPr/>
          </a:p>
        </p:txBody>
      </p:sp>
      <p:sp>
        <p:nvSpPr>
          <p:cNvPr id="69" name="Google Shape;69;p14"/>
          <p:cNvSpPr txBox="1"/>
          <p:nvPr>
            <p:ph idx="1" type="body"/>
          </p:nvPr>
        </p:nvSpPr>
        <p:spPr>
          <a:xfrm>
            <a:off x="311700" y="1331675"/>
            <a:ext cx="8520600" cy="1667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Font typeface="Economica"/>
              <a:buChar char="❖"/>
            </a:pPr>
            <a:r>
              <a:rPr lang="en">
                <a:latin typeface="Economica"/>
                <a:ea typeface="Economica"/>
                <a:cs typeface="Economica"/>
                <a:sym typeface="Economica"/>
              </a:rPr>
              <a:t>Both d</a:t>
            </a:r>
            <a:r>
              <a:rPr lang="en">
                <a:latin typeface="Economica"/>
                <a:ea typeface="Economica"/>
                <a:cs typeface="Economica"/>
                <a:sym typeface="Economica"/>
              </a:rPr>
              <a:t>atasets </a:t>
            </a:r>
            <a:r>
              <a:rPr b="1" lang="en">
                <a:latin typeface="Economica"/>
                <a:ea typeface="Economica"/>
                <a:cs typeface="Economica"/>
                <a:sym typeface="Economica"/>
              </a:rPr>
              <a:t>AE-110k</a:t>
            </a:r>
            <a:r>
              <a:rPr lang="en">
                <a:latin typeface="Economica"/>
                <a:ea typeface="Economica"/>
                <a:cs typeface="Economica"/>
                <a:sym typeface="Economica"/>
              </a:rPr>
              <a:t> and </a:t>
            </a:r>
            <a:r>
              <a:rPr b="1" lang="en">
                <a:latin typeface="Economica"/>
                <a:ea typeface="Economica"/>
                <a:cs typeface="Economica"/>
                <a:sym typeface="Economica"/>
              </a:rPr>
              <a:t>OA-Mine</a:t>
            </a:r>
            <a:r>
              <a:rPr lang="en">
                <a:latin typeface="Economica"/>
                <a:ea typeface="Economica"/>
                <a:cs typeface="Economica"/>
                <a:sym typeface="Economica"/>
              </a:rPr>
              <a:t> was pre-processed into a list where each entry has a product description and a dictionary of attributes and their corresponding values.</a:t>
            </a:r>
            <a:endParaRPr>
              <a:latin typeface="Economica"/>
              <a:ea typeface="Economica"/>
              <a:cs typeface="Economica"/>
              <a:sym typeface="Economica"/>
            </a:endParaRPr>
          </a:p>
          <a:p>
            <a:pPr indent="0" lvl="0" marL="457200" rtl="0" algn="l">
              <a:spcBef>
                <a:spcPts val="1200"/>
              </a:spcBef>
              <a:spcAft>
                <a:spcPts val="0"/>
              </a:spcAft>
              <a:buNone/>
            </a:pPr>
            <a:r>
              <a:t/>
            </a:r>
            <a:endParaRPr>
              <a:latin typeface="Economica"/>
              <a:ea typeface="Economica"/>
              <a:cs typeface="Economica"/>
              <a:sym typeface="Economica"/>
            </a:endParaRPr>
          </a:p>
          <a:p>
            <a:pPr indent="-342900" lvl="0" marL="457200" rtl="0" algn="l">
              <a:spcBef>
                <a:spcPts val="1200"/>
              </a:spcBef>
              <a:spcAft>
                <a:spcPts val="0"/>
              </a:spcAft>
              <a:buSzPts val="1800"/>
              <a:buFont typeface="Economica"/>
              <a:buChar char="❖"/>
            </a:pPr>
            <a:r>
              <a:rPr lang="en">
                <a:latin typeface="Economica"/>
                <a:ea typeface="Economica"/>
                <a:cs typeface="Economica"/>
                <a:sym typeface="Economica"/>
              </a:rPr>
              <a:t>Following evaluation metrics were implemented:</a:t>
            </a:r>
            <a:endParaRPr/>
          </a:p>
        </p:txBody>
      </p:sp>
      <p:sp>
        <p:nvSpPr>
          <p:cNvPr id="70" name="Google Shape;70;p14"/>
          <p:cNvSpPr txBox="1"/>
          <p:nvPr/>
        </p:nvSpPr>
        <p:spPr>
          <a:xfrm>
            <a:off x="847850" y="2999125"/>
            <a:ext cx="5143500" cy="12801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Economica"/>
              <a:buChar char="●"/>
            </a:pPr>
            <a:r>
              <a:rPr lang="en" sz="1800">
                <a:solidFill>
                  <a:schemeClr val="dk1"/>
                </a:solidFill>
                <a:latin typeface="Economica"/>
                <a:ea typeface="Economica"/>
                <a:cs typeface="Economica"/>
                <a:sym typeface="Economica"/>
              </a:rPr>
              <a:t>Exact Match</a:t>
            </a:r>
            <a:endParaRPr sz="1800">
              <a:solidFill>
                <a:schemeClr val="dk1"/>
              </a:solidFill>
              <a:latin typeface="Economica"/>
              <a:ea typeface="Economica"/>
              <a:cs typeface="Economica"/>
              <a:sym typeface="Economica"/>
            </a:endParaRPr>
          </a:p>
          <a:p>
            <a:pPr indent="-342900" lvl="0" marL="457200" rtl="0" algn="l">
              <a:spcBef>
                <a:spcPts val="0"/>
              </a:spcBef>
              <a:spcAft>
                <a:spcPts val="0"/>
              </a:spcAft>
              <a:buClr>
                <a:schemeClr val="dk1"/>
              </a:buClr>
              <a:buSzPts val="1800"/>
              <a:buFont typeface="Economica"/>
              <a:buChar char="●"/>
            </a:pPr>
            <a:r>
              <a:rPr lang="en" sz="1800">
                <a:solidFill>
                  <a:schemeClr val="dk1"/>
                </a:solidFill>
                <a:latin typeface="Economica"/>
                <a:ea typeface="Economica"/>
                <a:cs typeface="Economica"/>
                <a:sym typeface="Economica"/>
              </a:rPr>
              <a:t>Bag of Words Precision</a:t>
            </a:r>
            <a:endParaRPr sz="1800">
              <a:solidFill>
                <a:schemeClr val="dk1"/>
              </a:solidFill>
              <a:latin typeface="Economica"/>
              <a:ea typeface="Economica"/>
              <a:cs typeface="Economica"/>
              <a:sym typeface="Economica"/>
            </a:endParaRPr>
          </a:p>
          <a:p>
            <a:pPr indent="-342900" lvl="0" marL="457200" rtl="0" algn="l">
              <a:spcBef>
                <a:spcPts val="0"/>
              </a:spcBef>
              <a:spcAft>
                <a:spcPts val="0"/>
              </a:spcAft>
              <a:buClr>
                <a:schemeClr val="dk1"/>
              </a:buClr>
              <a:buSzPts val="1800"/>
              <a:buFont typeface="Economica"/>
              <a:buChar char="●"/>
            </a:pPr>
            <a:r>
              <a:rPr lang="en" sz="1800">
                <a:solidFill>
                  <a:schemeClr val="dk1"/>
                </a:solidFill>
                <a:latin typeface="Economica"/>
                <a:ea typeface="Economica"/>
                <a:cs typeface="Economica"/>
                <a:sym typeface="Economica"/>
              </a:rPr>
              <a:t>Bag of Words Recall</a:t>
            </a:r>
            <a:endParaRPr sz="1800">
              <a:solidFill>
                <a:schemeClr val="dk1"/>
              </a:solidFill>
              <a:latin typeface="Economica"/>
              <a:ea typeface="Economica"/>
              <a:cs typeface="Economica"/>
              <a:sym typeface="Economica"/>
            </a:endParaRPr>
          </a:p>
          <a:p>
            <a:pPr indent="-342900" lvl="0" marL="457200" rtl="0" algn="l">
              <a:spcBef>
                <a:spcPts val="0"/>
              </a:spcBef>
              <a:spcAft>
                <a:spcPts val="0"/>
              </a:spcAft>
              <a:buClr>
                <a:schemeClr val="dk1"/>
              </a:buClr>
              <a:buSzPts val="1800"/>
              <a:buFont typeface="Economica"/>
              <a:buChar char="●"/>
            </a:pPr>
            <a:r>
              <a:rPr lang="en" sz="1800">
                <a:solidFill>
                  <a:schemeClr val="dk1"/>
                </a:solidFill>
                <a:latin typeface="Economica"/>
                <a:ea typeface="Economica"/>
                <a:cs typeface="Economica"/>
                <a:sym typeface="Economica"/>
              </a:rPr>
              <a:t>Bag of Words F1 score</a:t>
            </a:r>
            <a:endParaRPr sz="1800">
              <a:solidFill>
                <a:schemeClr val="dk1"/>
              </a:solidFill>
              <a:latin typeface="Economica"/>
              <a:ea typeface="Economica"/>
              <a:cs typeface="Economica"/>
              <a:sym typeface="Economic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Previous Work</a:t>
            </a:r>
            <a:endParaRPr/>
          </a:p>
        </p:txBody>
      </p:sp>
      <p:sp>
        <p:nvSpPr>
          <p:cNvPr id="76" name="Google Shape;76;p15"/>
          <p:cNvSpPr txBox="1"/>
          <p:nvPr>
            <p:ph idx="1" type="body"/>
          </p:nvPr>
        </p:nvSpPr>
        <p:spPr>
          <a:xfrm>
            <a:off x="311700" y="1225225"/>
            <a:ext cx="8520600" cy="32067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Font typeface="Economica"/>
              <a:buChar char="❖"/>
            </a:pPr>
            <a:r>
              <a:rPr lang="en">
                <a:latin typeface="Economica"/>
                <a:ea typeface="Economica"/>
                <a:cs typeface="Economica"/>
                <a:sym typeface="Economica"/>
              </a:rPr>
              <a:t>The </a:t>
            </a:r>
            <a:r>
              <a:rPr b="1" lang="en">
                <a:latin typeface="Economica"/>
                <a:ea typeface="Economica"/>
                <a:cs typeface="Economica"/>
                <a:sym typeface="Economica"/>
              </a:rPr>
              <a:t>LLaMa-3.1 8B</a:t>
            </a:r>
            <a:r>
              <a:rPr lang="en">
                <a:latin typeface="Economica"/>
                <a:ea typeface="Economica"/>
                <a:cs typeface="Economica"/>
                <a:sym typeface="Economica"/>
              </a:rPr>
              <a:t> model from Meta was deployed using Unsloth for efficient usage of VRAM during both fine-tuning and inference.</a:t>
            </a:r>
            <a:endParaRPr>
              <a:latin typeface="Economica"/>
              <a:ea typeface="Economica"/>
              <a:cs typeface="Economica"/>
              <a:sym typeface="Economica"/>
            </a:endParaRPr>
          </a:p>
          <a:p>
            <a:pPr indent="0" lvl="0" marL="457200" rtl="0" algn="l">
              <a:spcBef>
                <a:spcPts val="1200"/>
              </a:spcBef>
              <a:spcAft>
                <a:spcPts val="0"/>
              </a:spcAft>
              <a:buNone/>
            </a:pPr>
            <a:r>
              <a:t/>
            </a:r>
            <a:endParaRPr>
              <a:latin typeface="Economica"/>
              <a:ea typeface="Economica"/>
              <a:cs typeface="Economica"/>
              <a:sym typeface="Economica"/>
            </a:endParaRPr>
          </a:p>
          <a:p>
            <a:pPr indent="-342900" lvl="0" marL="457200" rtl="0" algn="l">
              <a:spcBef>
                <a:spcPts val="1200"/>
              </a:spcBef>
              <a:spcAft>
                <a:spcPts val="0"/>
              </a:spcAft>
              <a:buSzPts val="1800"/>
              <a:buFont typeface="Economica"/>
              <a:buChar char="❖"/>
            </a:pPr>
            <a:r>
              <a:rPr lang="en">
                <a:latin typeface="Economica"/>
                <a:ea typeface="Economica"/>
                <a:cs typeface="Economica"/>
                <a:sym typeface="Economica"/>
              </a:rPr>
              <a:t>4-bit quantization of model’s weights was done.</a:t>
            </a:r>
            <a:endParaRPr>
              <a:latin typeface="Economica"/>
              <a:ea typeface="Economica"/>
              <a:cs typeface="Economica"/>
              <a:sym typeface="Economica"/>
            </a:endParaRPr>
          </a:p>
          <a:p>
            <a:pPr indent="0" lvl="0" marL="457200" rtl="0" algn="l">
              <a:spcBef>
                <a:spcPts val="1200"/>
              </a:spcBef>
              <a:spcAft>
                <a:spcPts val="0"/>
              </a:spcAft>
              <a:buNone/>
            </a:pPr>
            <a:r>
              <a:t/>
            </a:r>
            <a:endParaRPr>
              <a:latin typeface="Economica"/>
              <a:ea typeface="Economica"/>
              <a:cs typeface="Economica"/>
              <a:sym typeface="Economica"/>
            </a:endParaRPr>
          </a:p>
          <a:p>
            <a:pPr indent="-342900" lvl="0" marL="457200" rtl="0" algn="l">
              <a:spcBef>
                <a:spcPts val="1200"/>
              </a:spcBef>
              <a:spcAft>
                <a:spcPts val="0"/>
              </a:spcAft>
              <a:buSzPts val="1800"/>
              <a:buFont typeface="Economica"/>
              <a:buChar char="❖"/>
            </a:pPr>
            <a:r>
              <a:rPr lang="en">
                <a:latin typeface="Economica"/>
                <a:ea typeface="Economica"/>
                <a:cs typeface="Economica"/>
                <a:sym typeface="Economica"/>
              </a:rPr>
              <a:t>Quantized Low-Rank Adaptation (QLoRA) with a rank of 8 was leveraged for fine-tuning.</a:t>
            </a:r>
            <a:endParaRPr>
              <a:latin typeface="Economica"/>
              <a:ea typeface="Economica"/>
              <a:cs typeface="Economica"/>
              <a:sym typeface="Economica"/>
            </a:endParaRPr>
          </a:p>
          <a:p>
            <a:pPr indent="0" lvl="0" marL="457200" rtl="0" algn="l">
              <a:spcBef>
                <a:spcPts val="1200"/>
              </a:spcBef>
              <a:spcAft>
                <a:spcPts val="0"/>
              </a:spcAft>
              <a:buNone/>
            </a:pPr>
            <a:r>
              <a:t/>
            </a:r>
            <a:endParaRPr>
              <a:latin typeface="Economica"/>
              <a:ea typeface="Economica"/>
              <a:cs typeface="Economica"/>
              <a:sym typeface="Economica"/>
            </a:endParaRPr>
          </a:p>
          <a:p>
            <a:pPr indent="-342900" lvl="0" marL="457200" rtl="0" algn="l">
              <a:spcBef>
                <a:spcPts val="1200"/>
              </a:spcBef>
              <a:spcAft>
                <a:spcPts val="0"/>
              </a:spcAft>
              <a:buSzPts val="1800"/>
              <a:buFont typeface="Economica"/>
              <a:buChar char="❖"/>
            </a:pPr>
            <a:r>
              <a:rPr lang="en">
                <a:latin typeface="Economica"/>
                <a:ea typeface="Economica"/>
                <a:cs typeface="Economica"/>
                <a:sym typeface="Economica"/>
              </a:rPr>
              <a:t>The model was fine-tuned as an answer generation task and inference was done.</a:t>
            </a:r>
            <a:endParaRPr>
              <a:latin typeface="Economica"/>
              <a:ea typeface="Economica"/>
              <a:cs typeface="Economica"/>
              <a:sym typeface="Economic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Text Infilling </a:t>
            </a:r>
            <a:r>
              <a:rPr lang="en" sz="1800" u="sng">
                <a:solidFill>
                  <a:schemeClr val="hlink"/>
                </a:solidFill>
                <a:hlinkClick r:id="rId3"/>
              </a:rPr>
              <a:t>Enabling Language Models to Fill in the Blanks</a:t>
            </a:r>
            <a:endParaRPr sz="1800"/>
          </a:p>
        </p:txBody>
      </p:sp>
      <p:sp>
        <p:nvSpPr>
          <p:cNvPr id="82" name="Google Shape;82;p16"/>
          <p:cNvSpPr txBox="1"/>
          <p:nvPr>
            <p:ph idx="1" type="body"/>
          </p:nvPr>
        </p:nvSpPr>
        <p:spPr>
          <a:xfrm>
            <a:off x="311700" y="1307425"/>
            <a:ext cx="4260300" cy="33540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SzPts val="1800"/>
              <a:buFont typeface="Economica"/>
              <a:buChar char="●"/>
            </a:pPr>
            <a:r>
              <a:rPr lang="en">
                <a:latin typeface="Economica"/>
                <a:ea typeface="Economica"/>
                <a:cs typeface="Economica"/>
                <a:sym typeface="Economica"/>
              </a:rPr>
              <a:t>This framework prevents the model from having to predict unmasked text.</a:t>
            </a:r>
            <a:endParaRPr>
              <a:latin typeface="Economica"/>
              <a:ea typeface="Economica"/>
              <a:cs typeface="Economica"/>
              <a:sym typeface="Economica"/>
            </a:endParaRPr>
          </a:p>
          <a:p>
            <a:pPr indent="0" lvl="0" marL="457200" rtl="0" algn="l">
              <a:spcBef>
                <a:spcPts val="1200"/>
              </a:spcBef>
              <a:spcAft>
                <a:spcPts val="0"/>
              </a:spcAft>
              <a:buNone/>
            </a:pPr>
            <a:r>
              <a:t/>
            </a:r>
            <a:endParaRPr>
              <a:latin typeface="Economica"/>
              <a:ea typeface="Economica"/>
              <a:cs typeface="Economica"/>
              <a:sym typeface="Economica"/>
            </a:endParaRPr>
          </a:p>
          <a:p>
            <a:pPr indent="-342900" lvl="0" marL="457200" rtl="0" algn="l">
              <a:spcBef>
                <a:spcPts val="1200"/>
              </a:spcBef>
              <a:spcAft>
                <a:spcPts val="0"/>
              </a:spcAft>
              <a:buSzPts val="1800"/>
              <a:buFont typeface="Economica"/>
              <a:buChar char="●"/>
            </a:pPr>
            <a:r>
              <a:rPr lang="en">
                <a:latin typeface="Economica"/>
                <a:ea typeface="Economica"/>
                <a:cs typeface="Economica"/>
                <a:sym typeface="Economica"/>
              </a:rPr>
              <a:t>Significant drop in number of tokens to be predicted by avoiding redundancy hence making this framework efficient.</a:t>
            </a:r>
            <a:endParaRPr>
              <a:latin typeface="Economica"/>
              <a:ea typeface="Economica"/>
              <a:cs typeface="Economica"/>
              <a:sym typeface="Economica"/>
            </a:endParaRPr>
          </a:p>
        </p:txBody>
      </p:sp>
      <p:pic>
        <p:nvPicPr>
          <p:cNvPr id="83" name="Google Shape;83;p16"/>
          <p:cNvPicPr preferRelativeResize="0"/>
          <p:nvPr/>
        </p:nvPicPr>
        <p:blipFill>
          <a:blip r:embed="rId4">
            <a:alphaModFix/>
          </a:blip>
          <a:stretch>
            <a:fillRect/>
          </a:stretch>
        </p:blipFill>
        <p:spPr>
          <a:xfrm>
            <a:off x="4476475" y="982825"/>
            <a:ext cx="4491375" cy="33540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Text Infilling</a:t>
            </a:r>
            <a:endParaRPr/>
          </a:p>
        </p:txBody>
      </p:sp>
      <p:sp>
        <p:nvSpPr>
          <p:cNvPr id="89" name="Google Shape;89;p17"/>
          <p:cNvSpPr txBox="1"/>
          <p:nvPr>
            <p:ph idx="1" type="body"/>
          </p:nvPr>
        </p:nvSpPr>
        <p:spPr>
          <a:xfrm>
            <a:off x="311700" y="1225225"/>
            <a:ext cx="8520600" cy="337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400">
                <a:latin typeface="Economica"/>
                <a:ea typeface="Economica"/>
                <a:cs typeface="Economica"/>
                <a:sym typeface="Economica"/>
              </a:rPr>
              <a:t>Data:    </a:t>
            </a:r>
            <a:r>
              <a:rPr lang="en">
                <a:latin typeface="Economica"/>
                <a:ea typeface="Economica"/>
                <a:cs typeface="Economica"/>
                <a:sym typeface="Economica"/>
              </a:rPr>
              <a:t>["Cameron's Coffee Single Serve Pods, Flavored, Chocolate Caramel Brownie, 12 Count (Pack of 1)",</a:t>
            </a:r>
            <a:endParaRPr>
              <a:latin typeface="Economica"/>
              <a:ea typeface="Economica"/>
              <a:cs typeface="Economica"/>
              <a:sym typeface="Economica"/>
            </a:endParaRPr>
          </a:p>
          <a:p>
            <a:pPr indent="0" lvl="0" marL="0" rtl="0" algn="l">
              <a:spcBef>
                <a:spcPts val="1200"/>
              </a:spcBef>
              <a:spcAft>
                <a:spcPts val="0"/>
              </a:spcAft>
              <a:buNone/>
            </a:pPr>
            <a:r>
              <a:rPr lang="en">
                <a:latin typeface="Economica"/>
                <a:ea typeface="Economica"/>
                <a:cs typeface="Economica"/>
                <a:sym typeface="Economica"/>
              </a:rPr>
              <a:t>                    {'Brand': "Cameron's Coffee",             'Item form': 'Single Serve Pods',   </a:t>
            </a:r>
            <a:endParaRPr>
              <a:latin typeface="Economica"/>
              <a:ea typeface="Economica"/>
              <a:cs typeface="Economica"/>
              <a:sym typeface="Economica"/>
            </a:endParaRPr>
          </a:p>
          <a:p>
            <a:pPr indent="0" lvl="0" marL="0" rtl="0" algn="l">
              <a:spcBef>
                <a:spcPts val="1200"/>
              </a:spcBef>
              <a:spcAft>
                <a:spcPts val="0"/>
              </a:spcAft>
              <a:buNone/>
            </a:pPr>
            <a:r>
              <a:rPr lang="en">
                <a:latin typeface="Economica"/>
                <a:ea typeface="Economica"/>
                <a:cs typeface="Economica"/>
                <a:sym typeface="Economica"/>
              </a:rPr>
              <a:t>                     'Specialty': 'Flavored',                         'Net content': '12 Count'}        ]</a:t>
            </a:r>
            <a:endParaRPr>
              <a:latin typeface="Economica"/>
              <a:ea typeface="Economica"/>
              <a:cs typeface="Economica"/>
              <a:sym typeface="Economica"/>
            </a:endParaRPr>
          </a:p>
          <a:p>
            <a:pPr indent="0" lvl="0" marL="0" rtl="0" algn="l">
              <a:spcBef>
                <a:spcPts val="1200"/>
              </a:spcBef>
              <a:spcAft>
                <a:spcPts val="0"/>
              </a:spcAft>
              <a:buNone/>
            </a:pPr>
            <a:r>
              <a:rPr b="1" lang="en" sz="2400">
                <a:latin typeface="Economica"/>
                <a:ea typeface="Economica"/>
                <a:cs typeface="Economica"/>
                <a:sym typeface="Economica"/>
              </a:rPr>
              <a:t>Input:  </a:t>
            </a:r>
            <a:r>
              <a:rPr lang="en">
                <a:latin typeface="Economica"/>
                <a:ea typeface="Economica"/>
                <a:cs typeface="Economica"/>
                <a:sym typeface="Economica"/>
              </a:rPr>
              <a:t>Cameron's Coffee Single Serve Pods, Flavored, Chocolate Caramel Brownie, 12 Count (Pack of 1) : Brand is           </a:t>
            </a:r>
            <a:endParaRPr>
              <a:latin typeface="Economica"/>
              <a:ea typeface="Economica"/>
              <a:cs typeface="Economica"/>
              <a:sym typeface="Economica"/>
            </a:endParaRPr>
          </a:p>
          <a:p>
            <a:pPr indent="0" lvl="0" marL="0" rtl="0" algn="l">
              <a:spcBef>
                <a:spcPts val="1200"/>
              </a:spcBef>
              <a:spcAft>
                <a:spcPts val="0"/>
              </a:spcAft>
              <a:buNone/>
            </a:pPr>
            <a:r>
              <a:rPr lang="en">
                <a:latin typeface="Economica"/>
                <a:ea typeface="Economica"/>
                <a:cs typeface="Economica"/>
                <a:sym typeface="Economica"/>
              </a:rPr>
              <a:t>                 </a:t>
            </a:r>
            <a:r>
              <a:rPr b="1" lang="en">
                <a:latin typeface="Economica"/>
                <a:ea typeface="Economica"/>
                <a:cs typeface="Economica"/>
                <a:sym typeface="Economica"/>
              </a:rPr>
              <a:t>[mask]</a:t>
            </a:r>
            <a:r>
              <a:rPr lang="en">
                <a:latin typeface="Economica"/>
                <a:ea typeface="Economica"/>
                <a:cs typeface="Economica"/>
                <a:sym typeface="Economica"/>
              </a:rPr>
              <a:t> and Item form is </a:t>
            </a:r>
            <a:r>
              <a:rPr b="1" lang="en">
                <a:latin typeface="Economica"/>
                <a:ea typeface="Economica"/>
                <a:cs typeface="Economica"/>
                <a:sym typeface="Economica"/>
              </a:rPr>
              <a:t>[mask]</a:t>
            </a:r>
            <a:r>
              <a:rPr lang="en">
                <a:latin typeface="Economica"/>
                <a:ea typeface="Economica"/>
                <a:cs typeface="Economica"/>
                <a:sym typeface="Economica"/>
              </a:rPr>
              <a:t> and Specialty is </a:t>
            </a:r>
            <a:r>
              <a:rPr b="1" lang="en">
                <a:latin typeface="Economica"/>
                <a:ea typeface="Economica"/>
                <a:cs typeface="Economica"/>
                <a:sym typeface="Economica"/>
              </a:rPr>
              <a:t>[mask]</a:t>
            </a:r>
            <a:r>
              <a:rPr lang="en">
                <a:latin typeface="Economica"/>
                <a:ea typeface="Economica"/>
                <a:cs typeface="Economica"/>
                <a:sym typeface="Economica"/>
              </a:rPr>
              <a:t> and Net content is </a:t>
            </a:r>
            <a:r>
              <a:rPr b="1" lang="en">
                <a:latin typeface="Economica"/>
                <a:ea typeface="Economica"/>
                <a:cs typeface="Economica"/>
                <a:sym typeface="Economica"/>
              </a:rPr>
              <a:t>[mask]</a:t>
            </a:r>
            <a:endParaRPr b="1" sz="2400">
              <a:latin typeface="Economica"/>
              <a:ea typeface="Economica"/>
              <a:cs typeface="Economica"/>
              <a:sym typeface="Economica"/>
            </a:endParaRPr>
          </a:p>
          <a:p>
            <a:pPr indent="0" lvl="0" marL="0" rtl="0" algn="l">
              <a:spcBef>
                <a:spcPts val="1200"/>
              </a:spcBef>
              <a:spcAft>
                <a:spcPts val="1200"/>
              </a:spcAft>
              <a:buNone/>
            </a:pPr>
            <a:r>
              <a:rPr b="1" lang="en" sz="2400">
                <a:latin typeface="Economica"/>
                <a:ea typeface="Economica"/>
                <a:cs typeface="Economica"/>
                <a:sym typeface="Economica"/>
              </a:rPr>
              <a:t>Target:  </a:t>
            </a:r>
            <a:r>
              <a:rPr lang="en">
                <a:latin typeface="Economica"/>
                <a:ea typeface="Economica"/>
                <a:cs typeface="Economica"/>
                <a:sym typeface="Economica"/>
              </a:rPr>
              <a:t>Cameron’s Coffee</a:t>
            </a:r>
            <a:r>
              <a:rPr b="1" lang="en">
                <a:latin typeface="Economica"/>
                <a:ea typeface="Economica"/>
                <a:cs typeface="Economica"/>
                <a:sym typeface="Economica"/>
              </a:rPr>
              <a:t>[answer]</a:t>
            </a:r>
            <a:r>
              <a:rPr lang="en">
                <a:latin typeface="Economica"/>
                <a:ea typeface="Economica"/>
                <a:cs typeface="Economica"/>
                <a:sym typeface="Economica"/>
              </a:rPr>
              <a:t>Single Serve Pods</a:t>
            </a:r>
            <a:r>
              <a:rPr b="1" lang="en">
                <a:latin typeface="Economica"/>
                <a:ea typeface="Economica"/>
                <a:cs typeface="Economica"/>
                <a:sym typeface="Economica"/>
              </a:rPr>
              <a:t>[answer]</a:t>
            </a:r>
            <a:r>
              <a:rPr lang="en">
                <a:latin typeface="Economica"/>
                <a:ea typeface="Economica"/>
                <a:cs typeface="Economica"/>
                <a:sym typeface="Economica"/>
              </a:rPr>
              <a:t>Flavored</a:t>
            </a:r>
            <a:r>
              <a:rPr b="1" lang="en">
                <a:latin typeface="Economica"/>
                <a:ea typeface="Economica"/>
                <a:cs typeface="Economica"/>
                <a:sym typeface="Economica"/>
              </a:rPr>
              <a:t>[answer]</a:t>
            </a:r>
            <a:r>
              <a:rPr lang="en">
                <a:latin typeface="Economica"/>
                <a:ea typeface="Economica"/>
                <a:cs typeface="Economica"/>
                <a:sym typeface="Economica"/>
              </a:rPr>
              <a:t>12 Count</a:t>
            </a:r>
            <a:r>
              <a:rPr b="1" lang="en">
                <a:latin typeface="Economica"/>
                <a:ea typeface="Economica"/>
                <a:cs typeface="Economica"/>
                <a:sym typeface="Economica"/>
              </a:rPr>
              <a:t>[answer]</a:t>
            </a:r>
            <a:endParaRPr b="1">
              <a:latin typeface="Economica"/>
              <a:ea typeface="Economica"/>
              <a:cs typeface="Economica"/>
              <a:sym typeface="Economic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Baseline</a:t>
            </a:r>
            <a:endParaRPr/>
          </a:p>
        </p:txBody>
      </p:sp>
      <p:sp>
        <p:nvSpPr>
          <p:cNvPr id="95" name="Google Shape;95;p18"/>
          <p:cNvSpPr txBox="1"/>
          <p:nvPr>
            <p:ph idx="1" type="body"/>
          </p:nvPr>
        </p:nvSpPr>
        <p:spPr>
          <a:xfrm>
            <a:off x="311700" y="3401900"/>
            <a:ext cx="8520600" cy="831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Economica"/>
                <a:ea typeface="Economica"/>
                <a:cs typeface="Economica"/>
                <a:sym typeface="Economica"/>
              </a:rPr>
              <a:t>The </a:t>
            </a:r>
            <a:r>
              <a:rPr b="1" lang="en">
                <a:latin typeface="Economica"/>
                <a:ea typeface="Economica"/>
                <a:cs typeface="Economica"/>
                <a:sym typeface="Economica"/>
              </a:rPr>
              <a:t>LLaMa-3.1-8B-Instruct</a:t>
            </a:r>
            <a:r>
              <a:rPr lang="en">
                <a:latin typeface="Economica"/>
                <a:ea typeface="Economica"/>
                <a:cs typeface="Economica"/>
                <a:sym typeface="Economica"/>
              </a:rPr>
              <a:t> model was used with few-shot </a:t>
            </a:r>
            <a:r>
              <a:rPr lang="en">
                <a:latin typeface="Economica"/>
                <a:ea typeface="Economica"/>
                <a:cs typeface="Economica"/>
                <a:sym typeface="Economica"/>
              </a:rPr>
              <a:t>prompting as baseline. 3 examples were given in each prompt.</a:t>
            </a:r>
            <a:endParaRPr>
              <a:latin typeface="Economica"/>
              <a:ea typeface="Economica"/>
              <a:cs typeface="Economica"/>
              <a:sym typeface="Economica"/>
            </a:endParaRPr>
          </a:p>
        </p:txBody>
      </p:sp>
      <p:pic>
        <p:nvPicPr>
          <p:cNvPr id="96" name="Google Shape;96;p18"/>
          <p:cNvPicPr preferRelativeResize="0"/>
          <p:nvPr/>
        </p:nvPicPr>
        <p:blipFill>
          <a:blip r:embed="rId3">
            <a:alphaModFix/>
          </a:blip>
          <a:stretch>
            <a:fillRect/>
          </a:stretch>
        </p:blipFill>
        <p:spPr>
          <a:xfrm>
            <a:off x="440875" y="1258775"/>
            <a:ext cx="8520600" cy="21431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Baseline</a:t>
            </a:r>
            <a:endParaRPr/>
          </a:p>
        </p:txBody>
      </p:sp>
      <p:sp>
        <p:nvSpPr>
          <p:cNvPr id="102" name="Google Shape;102;p19"/>
          <p:cNvSpPr txBox="1"/>
          <p:nvPr>
            <p:ph idx="1" type="body"/>
          </p:nvPr>
        </p:nvSpPr>
        <p:spPr>
          <a:xfrm>
            <a:off x="311700" y="1225225"/>
            <a:ext cx="8520600" cy="31011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Font typeface="Economica"/>
              <a:buChar char="●"/>
            </a:pPr>
            <a:r>
              <a:rPr lang="en">
                <a:latin typeface="Economica"/>
                <a:ea typeface="Economica"/>
                <a:cs typeface="Economica"/>
                <a:sym typeface="Economica"/>
              </a:rPr>
              <a:t>Prior methods like SuoTag and BiLSTM-CRF lack general world understanding unlike modern LLMs like LLaMa, hence comparison with these methods is not fair.</a:t>
            </a:r>
            <a:endParaRPr>
              <a:latin typeface="Economica"/>
              <a:ea typeface="Economica"/>
              <a:cs typeface="Economica"/>
              <a:sym typeface="Economica"/>
            </a:endParaRPr>
          </a:p>
          <a:p>
            <a:pPr indent="0" lvl="0" marL="457200" rtl="0" algn="l">
              <a:spcBef>
                <a:spcPts val="1200"/>
              </a:spcBef>
              <a:spcAft>
                <a:spcPts val="0"/>
              </a:spcAft>
              <a:buNone/>
            </a:pPr>
            <a:r>
              <a:t/>
            </a:r>
            <a:endParaRPr>
              <a:latin typeface="Economica"/>
              <a:ea typeface="Economica"/>
              <a:cs typeface="Economica"/>
              <a:sym typeface="Economica"/>
            </a:endParaRPr>
          </a:p>
          <a:p>
            <a:pPr indent="-342900" lvl="0" marL="457200" rtl="0" algn="l">
              <a:spcBef>
                <a:spcPts val="1200"/>
              </a:spcBef>
              <a:spcAft>
                <a:spcPts val="0"/>
              </a:spcAft>
              <a:buSzPts val="1800"/>
              <a:buFont typeface="Economica"/>
              <a:buChar char="●"/>
            </a:pPr>
            <a:r>
              <a:rPr lang="en">
                <a:latin typeface="Economica"/>
                <a:ea typeface="Economica"/>
                <a:cs typeface="Economica"/>
                <a:sym typeface="Economica"/>
              </a:rPr>
              <a:t>Span-based models can only extract a single attribute value at a time for a given attribute from a product title, whereas methods using LLM’s allow all attributes to be processed simultaneously, significantly reducing computational overhead.</a:t>
            </a:r>
            <a:endParaRPr>
              <a:latin typeface="Economica"/>
              <a:ea typeface="Economica"/>
              <a:cs typeface="Economica"/>
              <a:sym typeface="Economica"/>
            </a:endParaRPr>
          </a:p>
          <a:p>
            <a:pPr indent="0" lvl="0" marL="457200" rtl="0" algn="l">
              <a:spcBef>
                <a:spcPts val="1200"/>
              </a:spcBef>
              <a:spcAft>
                <a:spcPts val="0"/>
              </a:spcAft>
              <a:buNone/>
            </a:pPr>
            <a:r>
              <a:t/>
            </a:r>
            <a:endParaRPr>
              <a:latin typeface="Economica"/>
              <a:ea typeface="Economica"/>
              <a:cs typeface="Economica"/>
              <a:sym typeface="Economica"/>
            </a:endParaRPr>
          </a:p>
          <a:p>
            <a:pPr indent="-342900" lvl="0" marL="457200" rtl="0" algn="l">
              <a:spcBef>
                <a:spcPts val="1200"/>
              </a:spcBef>
              <a:spcAft>
                <a:spcPts val="0"/>
              </a:spcAft>
              <a:buSzPts val="1800"/>
              <a:buFont typeface="Economica"/>
              <a:buChar char="●"/>
            </a:pPr>
            <a:r>
              <a:rPr lang="en">
                <a:latin typeface="Economica"/>
                <a:ea typeface="Economica"/>
                <a:cs typeface="Economica"/>
                <a:sym typeface="Economica"/>
              </a:rPr>
              <a:t>The LLaMa-3.1-8B-Instruct model is suitable for baseline and comparative analysis.</a:t>
            </a:r>
            <a:endParaRPr>
              <a:latin typeface="Economica"/>
              <a:ea typeface="Economica"/>
              <a:cs typeface="Economica"/>
              <a:sym typeface="Economic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315925"/>
            <a:ext cx="8520600" cy="7500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Exploring Results</a:t>
            </a:r>
            <a:endParaRPr/>
          </a:p>
        </p:txBody>
      </p:sp>
      <p:sp>
        <p:nvSpPr>
          <p:cNvPr id="108" name="Google Shape;108;p20"/>
          <p:cNvSpPr txBox="1"/>
          <p:nvPr>
            <p:ph idx="1" type="body"/>
          </p:nvPr>
        </p:nvSpPr>
        <p:spPr>
          <a:xfrm>
            <a:off x="311700" y="1133600"/>
            <a:ext cx="8520600" cy="3445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22">
                <a:latin typeface="Economica"/>
                <a:ea typeface="Economica"/>
                <a:cs typeface="Economica"/>
                <a:sym typeface="Economica"/>
              </a:rPr>
              <a:t>The exploration results aim to evaluate two critical aspects of model performance</a:t>
            </a:r>
            <a:endParaRPr sz="1822">
              <a:latin typeface="Economica"/>
              <a:ea typeface="Economica"/>
              <a:cs typeface="Economica"/>
              <a:sym typeface="Economica"/>
            </a:endParaRPr>
          </a:p>
          <a:p>
            <a:pPr indent="0" lvl="0" marL="0" rtl="0" algn="l">
              <a:spcBef>
                <a:spcPts val="0"/>
              </a:spcBef>
              <a:spcAft>
                <a:spcPts val="0"/>
              </a:spcAft>
              <a:buClr>
                <a:schemeClr val="dk1"/>
              </a:buClr>
              <a:buSzPts val="1100"/>
              <a:buFont typeface="Arial"/>
              <a:buNone/>
            </a:pPr>
            <a:r>
              <a:t/>
            </a:r>
            <a:endParaRPr sz="1822">
              <a:latin typeface="Economica"/>
              <a:ea typeface="Economica"/>
              <a:cs typeface="Economica"/>
              <a:sym typeface="Economica"/>
            </a:endParaRPr>
          </a:p>
          <a:p>
            <a:pPr indent="0" lvl="0" marL="0" rtl="0" algn="l">
              <a:spcBef>
                <a:spcPts val="0"/>
              </a:spcBef>
              <a:spcAft>
                <a:spcPts val="0"/>
              </a:spcAft>
              <a:buNone/>
            </a:pPr>
            <a:r>
              <a:rPr lang="en" sz="1822">
                <a:latin typeface="Economica"/>
                <a:ea typeface="Economica"/>
                <a:cs typeface="Economica"/>
                <a:sym typeface="Economica"/>
              </a:rPr>
              <a:t>• </a:t>
            </a:r>
            <a:r>
              <a:rPr b="1" i="1" lang="en" sz="1822">
                <a:latin typeface="Economica"/>
                <a:ea typeface="Economica"/>
                <a:cs typeface="Economica"/>
                <a:sym typeface="Economica"/>
              </a:rPr>
              <a:t>Robustness:</a:t>
            </a:r>
            <a:r>
              <a:rPr lang="en" sz="1822">
                <a:latin typeface="Economica"/>
                <a:ea typeface="Economica"/>
                <a:cs typeface="Economica"/>
                <a:sym typeface="Economica"/>
              </a:rPr>
              <a:t> The model’s ability to maintain consistent performance across diverse scenarios, including both frequent and rare cases. By testing the model across these extremes, we ensure that its performance is not biased towards any specific subset of data.</a:t>
            </a:r>
            <a:endParaRPr sz="1822">
              <a:latin typeface="Economica"/>
              <a:ea typeface="Economica"/>
              <a:cs typeface="Economica"/>
              <a:sym typeface="Economica"/>
            </a:endParaRPr>
          </a:p>
          <a:p>
            <a:pPr indent="0" lvl="0" marL="0" rtl="0" algn="l">
              <a:spcBef>
                <a:spcPts val="0"/>
              </a:spcBef>
              <a:spcAft>
                <a:spcPts val="0"/>
              </a:spcAft>
              <a:buClr>
                <a:schemeClr val="dk1"/>
              </a:buClr>
              <a:buSzPts val="1100"/>
              <a:buFont typeface="Arial"/>
              <a:buNone/>
            </a:pPr>
            <a:r>
              <a:t/>
            </a:r>
            <a:endParaRPr sz="1822">
              <a:latin typeface="Economica"/>
              <a:ea typeface="Economica"/>
              <a:cs typeface="Economica"/>
              <a:sym typeface="Economica"/>
            </a:endParaRPr>
          </a:p>
          <a:p>
            <a:pPr indent="0" lvl="0" marL="0" rtl="0" algn="l">
              <a:spcBef>
                <a:spcPts val="0"/>
              </a:spcBef>
              <a:spcAft>
                <a:spcPts val="0"/>
              </a:spcAft>
              <a:buClr>
                <a:schemeClr val="dk1"/>
              </a:buClr>
              <a:buSzPts val="1100"/>
              <a:buFont typeface="Arial"/>
              <a:buNone/>
            </a:pPr>
            <a:r>
              <a:rPr lang="en" sz="1822">
                <a:latin typeface="Economica"/>
                <a:ea typeface="Economica"/>
                <a:cs typeface="Economica"/>
                <a:sym typeface="Economica"/>
              </a:rPr>
              <a:t>• </a:t>
            </a:r>
            <a:r>
              <a:rPr b="1" i="1" lang="en" sz="1822">
                <a:latin typeface="Economica"/>
                <a:ea typeface="Economica"/>
                <a:cs typeface="Economica"/>
                <a:sym typeface="Economica"/>
              </a:rPr>
              <a:t>Versatility</a:t>
            </a:r>
            <a:r>
              <a:rPr lang="en" sz="1822">
                <a:latin typeface="Economica"/>
                <a:ea typeface="Economica"/>
                <a:cs typeface="Economica"/>
                <a:sym typeface="Economica"/>
              </a:rPr>
              <a:t>: The model’s capacity to generalize effectively across different datasets and attribute types. The versatility evaluation ensures that the model is not overly specialized, making it suitable for real-world applications involving diverse data sources.</a:t>
            </a:r>
            <a:endParaRPr sz="1822">
              <a:latin typeface="Economica"/>
              <a:ea typeface="Economica"/>
              <a:cs typeface="Economica"/>
              <a:sym typeface="Economica"/>
            </a:endParaRPr>
          </a:p>
          <a:p>
            <a:pPr indent="0" lvl="0" marL="0" rtl="0" algn="l">
              <a:spcBef>
                <a:spcPts val="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315925"/>
            <a:ext cx="8520600" cy="580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Robustness </a:t>
            </a:r>
            <a:r>
              <a:rPr lang="en" sz="2200"/>
              <a:t>(freq attributes)</a:t>
            </a:r>
            <a:endParaRPr sz="2200"/>
          </a:p>
        </p:txBody>
      </p:sp>
      <p:sp>
        <p:nvSpPr>
          <p:cNvPr id="114" name="Google Shape;114;p21"/>
          <p:cNvSpPr txBox="1"/>
          <p:nvPr>
            <p:ph idx="1" type="body"/>
          </p:nvPr>
        </p:nvSpPr>
        <p:spPr>
          <a:xfrm>
            <a:off x="311700" y="845975"/>
            <a:ext cx="4637100" cy="373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-&gt;</a:t>
            </a:r>
            <a:r>
              <a:rPr lang="en" sz="1600">
                <a:latin typeface="Economica"/>
                <a:ea typeface="Economica"/>
                <a:cs typeface="Economica"/>
                <a:sym typeface="Economica"/>
              </a:rPr>
              <a:t> </a:t>
            </a:r>
            <a:r>
              <a:rPr lang="en" sz="1600">
                <a:latin typeface="Economica"/>
                <a:ea typeface="Economica"/>
                <a:cs typeface="Economica"/>
                <a:sym typeface="Economica"/>
              </a:rPr>
              <a:t>When comparing the ILM training paradigm and Question Answering (QA) fine-tuning the F1 scores are nearly identical.ILM shows a slight advantage over QA fine-tuning.</a:t>
            </a:r>
            <a:endParaRPr sz="1600">
              <a:latin typeface="Economica"/>
              <a:ea typeface="Economica"/>
              <a:cs typeface="Economica"/>
              <a:sym typeface="Economica"/>
            </a:endParaRPr>
          </a:p>
          <a:p>
            <a:pPr indent="0" lvl="0" marL="0" rtl="0" algn="l">
              <a:spcBef>
                <a:spcPts val="0"/>
              </a:spcBef>
              <a:spcAft>
                <a:spcPts val="0"/>
              </a:spcAft>
              <a:buNone/>
            </a:pPr>
            <a:r>
              <a:t/>
            </a:r>
            <a:endParaRPr sz="1600">
              <a:latin typeface="Economica"/>
              <a:ea typeface="Economica"/>
              <a:cs typeface="Economica"/>
              <a:sym typeface="Economica"/>
            </a:endParaRPr>
          </a:p>
          <a:p>
            <a:pPr indent="0" lvl="0" marL="0" rtl="0" algn="l">
              <a:spcBef>
                <a:spcPts val="0"/>
              </a:spcBef>
              <a:spcAft>
                <a:spcPts val="0"/>
              </a:spcAft>
              <a:buNone/>
            </a:pPr>
            <a:r>
              <a:rPr lang="en" sz="1600">
                <a:latin typeface="Economica"/>
                <a:ea typeface="Economica"/>
                <a:cs typeface="Economica"/>
                <a:sym typeface="Economica"/>
              </a:rPr>
              <a:t>-&gt; Even with minimal training and the use of a quantized model fine-tuned with Quantized LoRA at rank 8 (adding only 20M parameters), the results are highly competitive.The scores closely match those of T5 and GPT-2 models reported in the original paper.</a:t>
            </a:r>
            <a:endParaRPr sz="1600">
              <a:latin typeface="Economica"/>
              <a:ea typeface="Economica"/>
              <a:cs typeface="Economica"/>
              <a:sym typeface="Economica"/>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1200"/>
              </a:spcAft>
              <a:buNone/>
            </a:pPr>
            <a:r>
              <a:t/>
            </a:r>
            <a:endParaRPr/>
          </a:p>
        </p:txBody>
      </p:sp>
      <p:pic>
        <p:nvPicPr>
          <p:cNvPr id="115" name="Google Shape;115;p21"/>
          <p:cNvPicPr preferRelativeResize="0"/>
          <p:nvPr/>
        </p:nvPicPr>
        <p:blipFill>
          <a:blip r:embed="rId3">
            <a:alphaModFix/>
          </a:blip>
          <a:stretch>
            <a:fillRect/>
          </a:stretch>
        </p:blipFill>
        <p:spPr>
          <a:xfrm>
            <a:off x="4889700" y="600763"/>
            <a:ext cx="3876877" cy="39419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11700" y="315925"/>
            <a:ext cx="8520600" cy="639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Clr>
                <a:schemeClr val="dk1"/>
              </a:buClr>
              <a:buSzPct val="26190"/>
              <a:buFont typeface="Arial"/>
              <a:buNone/>
            </a:pPr>
            <a:r>
              <a:rPr lang="en"/>
              <a:t>Robustness </a:t>
            </a:r>
            <a:r>
              <a:rPr lang="en" sz="2200"/>
              <a:t>(freq attributes)</a:t>
            </a:r>
            <a:endParaRPr/>
          </a:p>
        </p:txBody>
      </p:sp>
      <p:sp>
        <p:nvSpPr>
          <p:cNvPr id="121" name="Google Shape;121;p22"/>
          <p:cNvSpPr txBox="1"/>
          <p:nvPr>
            <p:ph idx="1" type="body"/>
          </p:nvPr>
        </p:nvSpPr>
        <p:spPr>
          <a:xfrm>
            <a:off x="311700" y="1184350"/>
            <a:ext cx="4485000" cy="3521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1600"/>
              <a:t>-&gt;</a:t>
            </a:r>
            <a:r>
              <a:rPr b="1" i="1" lang="en" sz="1600">
                <a:latin typeface="Economica"/>
                <a:ea typeface="Economica"/>
                <a:cs typeface="Economica"/>
                <a:sym typeface="Economica"/>
              </a:rPr>
              <a:t> Possible Explanation</a:t>
            </a:r>
            <a:r>
              <a:rPr lang="en" sz="1600">
                <a:latin typeface="Economica"/>
                <a:ea typeface="Economica"/>
                <a:cs typeface="Economica"/>
                <a:sym typeface="Economica"/>
              </a:rPr>
              <a:t> : In QA fine-tuning, the loss reduction might result more from optimizing the output prompt structure(i.e </a:t>
            </a:r>
            <a:r>
              <a:rPr b="1" i="1" lang="en" sz="1600">
                <a:latin typeface="Economica"/>
                <a:ea typeface="Economica"/>
                <a:cs typeface="Economica"/>
                <a:sym typeface="Economica"/>
              </a:rPr>
              <a:t>since we are giving the attributes in input and the output also contains attributes in json the model might learn to reduce loss on that</a:t>
            </a:r>
            <a:r>
              <a:rPr lang="en" sz="1600">
                <a:latin typeface="Economica"/>
                <a:ea typeface="Economica"/>
                <a:cs typeface="Economica"/>
                <a:sym typeface="Economica"/>
              </a:rPr>
              <a:t>) rather than improving the  accuracy of output predictions.</a:t>
            </a:r>
            <a:endParaRPr sz="1600">
              <a:latin typeface="Economica"/>
              <a:ea typeface="Economica"/>
              <a:cs typeface="Economica"/>
              <a:sym typeface="Economica"/>
            </a:endParaRPr>
          </a:p>
          <a:p>
            <a:pPr indent="0" lvl="0" marL="0" rtl="0" algn="l">
              <a:spcBef>
                <a:spcPts val="0"/>
              </a:spcBef>
              <a:spcAft>
                <a:spcPts val="0"/>
              </a:spcAft>
              <a:buNone/>
            </a:pPr>
            <a:r>
              <a:t/>
            </a:r>
            <a:endParaRPr sz="1600"/>
          </a:p>
          <a:p>
            <a:pPr indent="0" lvl="0" marL="0" rtl="0" algn="l">
              <a:spcBef>
                <a:spcPts val="1200"/>
              </a:spcBef>
              <a:spcAft>
                <a:spcPts val="0"/>
              </a:spcAft>
              <a:buNone/>
            </a:pPr>
            <a:r>
              <a:rPr b="1" lang="en" sz="1600">
                <a:latin typeface="Economica"/>
                <a:ea typeface="Economica"/>
                <a:cs typeface="Economica"/>
                <a:sym typeface="Economica"/>
              </a:rPr>
              <a:t>Key Limitation in Comparison efficiency:</a:t>
            </a:r>
            <a:endParaRPr b="1" sz="1600">
              <a:latin typeface="Economica"/>
              <a:ea typeface="Economica"/>
              <a:cs typeface="Economica"/>
              <a:sym typeface="Economica"/>
            </a:endParaRPr>
          </a:p>
          <a:p>
            <a:pPr indent="0" lvl="0" marL="0" rtl="0" algn="l">
              <a:spcBef>
                <a:spcPts val="1200"/>
              </a:spcBef>
              <a:spcAft>
                <a:spcPts val="0"/>
              </a:spcAft>
              <a:buNone/>
            </a:pPr>
            <a:r>
              <a:rPr lang="en" sz="1600">
                <a:latin typeface="Economica"/>
                <a:ea typeface="Economica"/>
                <a:cs typeface="Economica"/>
                <a:sym typeface="Economica"/>
              </a:rPr>
              <a:t>-&gt; The original paper does not explicitly outline the fine-tuning methodology (full parameter, Lora etc..), leading to potential variations and interpretative challenges when comparing efficiency.</a:t>
            </a:r>
            <a:endParaRPr sz="1600">
              <a:latin typeface="Economica"/>
              <a:ea typeface="Economica"/>
              <a:cs typeface="Economica"/>
              <a:sym typeface="Economica"/>
            </a:endParaRPr>
          </a:p>
          <a:p>
            <a:pPr indent="0" lvl="0" marL="0" rtl="0" algn="l">
              <a:spcBef>
                <a:spcPts val="120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Clr>
                <a:schemeClr val="dk1"/>
              </a:buClr>
              <a:buSzPct val="78571"/>
              <a:buFont typeface="Arial"/>
              <a:buNone/>
            </a:pPr>
            <a:r>
              <a:t/>
            </a:r>
            <a:endParaRPr sz="1400"/>
          </a:p>
        </p:txBody>
      </p:sp>
      <p:pic>
        <p:nvPicPr>
          <p:cNvPr id="122" name="Google Shape;122;p22"/>
          <p:cNvPicPr preferRelativeResize="0"/>
          <p:nvPr/>
        </p:nvPicPr>
        <p:blipFill>
          <a:blip r:embed="rId3">
            <a:alphaModFix/>
          </a:blip>
          <a:stretch>
            <a:fillRect/>
          </a:stretch>
        </p:blipFill>
        <p:spPr>
          <a:xfrm>
            <a:off x="4999850" y="1184350"/>
            <a:ext cx="3747474" cy="26168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311700" y="315925"/>
            <a:ext cx="8520600" cy="538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Clr>
                <a:schemeClr val="dk1"/>
              </a:buClr>
              <a:buSzPct val="26190"/>
              <a:buFont typeface="Arial"/>
              <a:buNone/>
            </a:pPr>
            <a:r>
              <a:rPr lang="en"/>
              <a:t>Robustness </a:t>
            </a:r>
            <a:r>
              <a:rPr lang="en" sz="2200"/>
              <a:t>(rare attributes)</a:t>
            </a:r>
            <a:endParaRPr/>
          </a:p>
        </p:txBody>
      </p:sp>
      <p:sp>
        <p:nvSpPr>
          <p:cNvPr id="128" name="Google Shape;128;p23"/>
          <p:cNvSpPr txBox="1"/>
          <p:nvPr>
            <p:ph idx="1" type="body"/>
          </p:nvPr>
        </p:nvSpPr>
        <p:spPr>
          <a:xfrm>
            <a:off x="311700" y="888275"/>
            <a:ext cx="4645800" cy="3690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b="1" sz="1600">
              <a:latin typeface="Economica"/>
              <a:ea typeface="Economica"/>
              <a:cs typeface="Economica"/>
              <a:sym typeface="Economica"/>
            </a:endParaRPr>
          </a:p>
          <a:p>
            <a:pPr indent="0" lvl="0" marL="0" rtl="0" algn="l">
              <a:spcBef>
                <a:spcPts val="0"/>
              </a:spcBef>
              <a:spcAft>
                <a:spcPts val="0"/>
              </a:spcAft>
              <a:buClr>
                <a:schemeClr val="dk1"/>
              </a:buClr>
              <a:buSzPts val="1100"/>
              <a:buFont typeface="Arial"/>
              <a:buNone/>
            </a:pPr>
            <a:r>
              <a:rPr b="1" lang="en" sz="1600">
                <a:latin typeface="Economica"/>
                <a:ea typeface="Economica"/>
                <a:cs typeface="Economica"/>
                <a:sym typeface="Economica"/>
              </a:rPr>
              <a:t>Performance on Rare Attributes:</a:t>
            </a:r>
            <a:endParaRPr b="1" sz="1600">
              <a:latin typeface="Economica"/>
              <a:ea typeface="Economica"/>
              <a:cs typeface="Economica"/>
              <a:sym typeface="Economica"/>
            </a:endParaRPr>
          </a:p>
          <a:p>
            <a:pPr indent="0" lvl="0" marL="0" rtl="0" algn="l">
              <a:spcBef>
                <a:spcPts val="1200"/>
              </a:spcBef>
              <a:spcAft>
                <a:spcPts val="0"/>
              </a:spcAft>
              <a:buNone/>
            </a:pPr>
            <a:r>
              <a:rPr lang="en" sz="1600">
                <a:latin typeface="Economica"/>
                <a:ea typeface="Economica"/>
                <a:cs typeface="Economica"/>
                <a:sym typeface="Economica"/>
              </a:rPr>
              <a:t>-&gt; Both LLaMA-ILM and LLaMA-QA outperform T5 and GPT-2 on rare attributes, showcasing their superior handling of such cases.</a:t>
            </a:r>
            <a:endParaRPr sz="1600">
              <a:latin typeface="Economica"/>
              <a:ea typeface="Economica"/>
              <a:cs typeface="Economica"/>
              <a:sym typeface="Economica"/>
            </a:endParaRPr>
          </a:p>
          <a:p>
            <a:pPr indent="0" lvl="0" marL="0" rtl="0" algn="l">
              <a:spcBef>
                <a:spcPts val="1200"/>
              </a:spcBef>
              <a:spcAft>
                <a:spcPts val="0"/>
              </a:spcAft>
              <a:buNone/>
            </a:pPr>
            <a:r>
              <a:t/>
            </a:r>
            <a:endParaRPr sz="1600">
              <a:latin typeface="Economica"/>
              <a:ea typeface="Economica"/>
              <a:cs typeface="Economica"/>
              <a:sym typeface="Economica"/>
            </a:endParaRPr>
          </a:p>
          <a:p>
            <a:pPr indent="0" lvl="0" marL="0" rtl="0" algn="l">
              <a:spcBef>
                <a:spcPts val="1200"/>
              </a:spcBef>
              <a:spcAft>
                <a:spcPts val="0"/>
              </a:spcAft>
              <a:buClr>
                <a:schemeClr val="dk1"/>
              </a:buClr>
              <a:buSzPts val="1100"/>
              <a:buFont typeface="Arial"/>
              <a:buNone/>
            </a:pPr>
            <a:r>
              <a:rPr b="1" lang="en" sz="1600">
                <a:latin typeface="Economica"/>
                <a:ea typeface="Economica"/>
                <a:cs typeface="Economica"/>
                <a:sym typeface="Economica"/>
              </a:rPr>
              <a:t>Role of General Knowledge:</a:t>
            </a:r>
            <a:endParaRPr b="1" sz="1600">
              <a:latin typeface="Economica"/>
              <a:ea typeface="Economica"/>
              <a:cs typeface="Economica"/>
              <a:sym typeface="Economica"/>
            </a:endParaRPr>
          </a:p>
          <a:p>
            <a:pPr indent="0" lvl="0" marL="0" rtl="0" algn="l">
              <a:spcBef>
                <a:spcPts val="1200"/>
              </a:spcBef>
              <a:spcAft>
                <a:spcPts val="0"/>
              </a:spcAft>
              <a:buNone/>
            </a:pPr>
            <a:r>
              <a:rPr lang="en" sz="1600">
                <a:latin typeface="Economica"/>
                <a:ea typeface="Economica"/>
                <a:cs typeface="Economica"/>
                <a:sym typeface="Economica"/>
              </a:rPr>
              <a:t>-&gt; Success with rare attributes depends heavily on the model’s pre-trained general knowledge, as fine-tuning encounters fewer examples of these attributes.</a:t>
            </a:r>
            <a:endParaRPr sz="1600">
              <a:latin typeface="Economica"/>
              <a:ea typeface="Economica"/>
              <a:cs typeface="Economica"/>
              <a:sym typeface="Economica"/>
            </a:endParaRPr>
          </a:p>
          <a:p>
            <a:pPr indent="0" lvl="0" marL="0" rtl="0" algn="l">
              <a:spcBef>
                <a:spcPts val="1200"/>
              </a:spcBef>
              <a:spcAft>
                <a:spcPts val="1200"/>
              </a:spcAft>
              <a:buNone/>
            </a:pPr>
            <a:r>
              <a:t/>
            </a:r>
            <a:endParaRPr/>
          </a:p>
        </p:txBody>
      </p:sp>
      <p:pic>
        <p:nvPicPr>
          <p:cNvPr id="129" name="Google Shape;129;p23"/>
          <p:cNvPicPr preferRelativeResize="0"/>
          <p:nvPr/>
        </p:nvPicPr>
        <p:blipFill>
          <a:blip r:embed="rId3">
            <a:alphaModFix/>
          </a:blip>
          <a:stretch>
            <a:fillRect/>
          </a:stretch>
        </p:blipFill>
        <p:spPr>
          <a:xfrm>
            <a:off x="5033750" y="533075"/>
            <a:ext cx="3550921" cy="39842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311700" y="315925"/>
            <a:ext cx="8520600" cy="690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Versatility</a:t>
            </a:r>
            <a:endParaRPr/>
          </a:p>
        </p:txBody>
      </p:sp>
      <p:sp>
        <p:nvSpPr>
          <p:cNvPr id="135" name="Google Shape;135;p24"/>
          <p:cNvSpPr txBox="1"/>
          <p:nvPr>
            <p:ph idx="1" type="body"/>
          </p:nvPr>
        </p:nvSpPr>
        <p:spPr>
          <a:xfrm>
            <a:off x="549875" y="1074375"/>
            <a:ext cx="4676400" cy="3504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i="1" lang="en" sz="1700">
                <a:latin typeface="Economica"/>
                <a:ea typeface="Economica"/>
                <a:cs typeface="Economica"/>
                <a:sym typeface="Economica"/>
              </a:rPr>
              <a:t>OA_MINE :</a:t>
            </a:r>
            <a:endParaRPr b="1" i="1" sz="1700">
              <a:latin typeface="Economica"/>
              <a:ea typeface="Economica"/>
              <a:cs typeface="Economica"/>
              <a:sym typeface="Economica"/>
            </a:endParaRPr>
          </a:p>
          <a:p>
            <a:pPr indent="0" lvl="0" marL="0" rtl="0" algn="l">
              <a:spcBef>
                <a:spcPts val="1200"/>
              </a:spcBef>
              <a:spcAft>
                <a:spcPts val="0"/>
              </a:spcAft>
              <a:buNone/>
            </a:pPr>
            <a:r>
              <a:rPr lang="en" sz="1700">
                <a:latin typeface="Economica"/>
                <a:ea typeface="Economica"/>
                <a:cs typeface="Economica"/>
                <a:sym typeface="Economica"/>
              </a:rPr>
              <a:t>-&gt; </a:t>
            </a:r>
            <a:r>
              <a:rPr lang="en" sz="1700">
                <a:latin typeface="Economica"/>
                <a:ea typeface="Economica"/>
                <a:cs typeface="Economica"/>
                <a:sym typeface="Economica"/>
              </a:rPr>
              <a:t>Generalization Trade-Off </a:t>
            </a:r>
            <a:r>
              <a:rPr lang="en" sz="1700">
                <a:latin typeface="Economica"/>
                <a:ea typeface="Economica"/>
                <a:cs typeface="Economica"/>
                <a:sym typeface="Economica"/>
              </a:rPr>
              <a:t> the instruct model outperforms fine-tuned models, indicating that fine-tuning may weaken the model’s generalization capabilities.</a:t>
            </a:r>
            <a:endParaRPr sz="1700">
              <a:latin typeface="Economica"/>
              <a:ea typeface="Economica"/>
              <a:cs typeface="Economica"/>
              <a:sym typeface="Economica"/>
            </a:endParaRPr>
          </a:p>
          <a:p>
            <a:pPr indent="0" lvl="0" marL="0" rtl="0" algn="l">
              <a:spcBef>
                <a:spcPts val="1200"/>
              </a:spcBef>
              <a:spcAft>
                <a:spcPts val="0"/>
              </a:spcAft>
              <a:buNone/>
            </a:pPr>
            <a:r>
              <a:t/>
            </a:r>
            <a:endParaRPr sz="1700">
              <a:latin typeface="Economica"/>
              <a:ea typeface="Economica"/>
              <a:cs typeface="Economica"/>
              <a:sym typeface="Economica"/>
            </a:endParaRPr>
          </a:p>
          <a:p>
            <a:pPr indent="0" lvl="0" marL="0" rtl="0" algn="l">
              <a:spcBef>
                <a:spcPts val="1200"/>
              </a:spcBef>
              <a:spcAft>
                <a:spcPts val="0"/>
              </a:spcAft>
              <a:buClr>
                <a:schemeClr val="dk1"/>
              </a:buClr>
              <a:buSzPts val="1100"/>
              <a:buFont typeface="Arial"/>
              <a:buNone/>
            </a:pPr>
            <a:r>
              <a:rPr b="1" i="1" lang="en" sz="1700">
                <a:latin typeface="Economica"/>
                <a:ea typeface="Economica"/>
                <a:cs typeface="Economica"/>
                <a:sym typeface="Economica"/>
              </a:rPr>
              <a:t>AE_110k </a:t>
            </a:r>
            <a:r>
              <a:rPr b="1" i="1" lang="en" sz="1700">
                <a:latin typeface="Economica"/>
                <a:ea typeface="Economica"/>
                <a:cs typeface="Economica"/>
                <a:sym typeface="Economica"/>
              </a:rPr>
              <a:t>: </a:t>
            </a:r>
            <a:endParaRPr b="1" i="1" sz="1700">
              <a:latin typeface="Economica"/>
              <a:ea typeface="Economica"/>
              <a:cs typeface="Economica"/>
              <a:sym typeface="Economica"/>
            </a:endParaRPr>
          </a:p>
          <a:p>
            <a:pPr indent="0" lvl="0" marL="0" rtl="0" algn="l">
              <a:spcBef>
                <a:spcPts val="1200"/>
              </a:spcBef>
              <a:spcAft>
                <a:spcPts val="0"/>
              </a:spcAft>
              <a:buNone/>
            </a:pPr>
            <a:r>
              <a:rPr lang="en" sz="1700">
                <a:latin typeface="Economica"/>
                <a:ea typeface="Economica"/>
                <a:cs typeface="Economica"/>
                <a:sym typeface="Economica"/>
              </a:rPr>
              <a:t>-&gt;D</a:t>
            </a:r>
            <a:r>
              <a:rPr lang="en" sz="1700">
                <a:latin typeface="Economica"/>
                <a:ea typeface="Economica"/>
                <a:cs typeface="Economica"/>
                <a:sym typeface="Economica"/>
              </a:rPr>
              <a:t>ataset-Specific Performance</a:t>
            </a:r>
            <a:r>
              <a:rPr lang="en" sz="1700">
                <a:latin typeface="Economica"/>
                <a:ea typeface="Economica"/>
                <a:cs typeface="Economica"/>
                <a:sym typeface="Economica"/>
              </a:rPr>
              <a:t>, fine-tuned models achieve significantly higher F1 scores, demonstrating that fine-tuning can greatly improve performance for specific datasets.</a:t>
            </a:r>
            <a:endParaRPr sz="1700">
              <a:latin typeface="Economica"/>
              <a:ea typeface="Economica"/>
              <a:cs typeface="Economica"/>
              <a:sym typeface="Economica"/>
            </a:endParaRPr>
          </a:p>
          <a:p>
            <a:pPr indent="0" lvl="0" marL="0" rtl="0" algn="l">
              <a:spcBef>
                <a:spcPts val="1200"/>
              </a:spcBef>
              <a:spcAft>
                <a:spcPts val="1200"/>
              </a:spcAft>
              <a:buNone/>
            </a:pPr>
            <a:r>
              <a:t/>
            </a:r>
            <a:endParaRPr sz="1600">
              <a:latin typeface="Economica"/>
              <a:ea typeface="Economica"/>
              <a:cs typeface="Economica"/>
              <a:sym typeface="Economica"/>
            </a:endParaRPr>
          </a:p>
        </p:txBody>
      </p:sp>
      <p:pic>
        <p:nvPicPr>
          <p:cNvPr id="136" name="Google Shape;136;p24"/>
          <p:cNvPicPr preferRelativeResize="0"/>
          <p:nvPr/>
        </p:nvPicPr>
        <p:blipFill rotWithShape="1">
          <a:blip r:embed="rId3">
            <a:alphaModFix/>
          </a:blip>
          <a:srcRect b="0" l="0" r="4571" t="0"/>
          <a:stretch/>
        </p:blipFill>
        <p:spPr>
          <a:xfrm>
            <a:off x="5073950" y="1074374"/>
            <a:ext cx="3917776" cy="2845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Conclusions</a:t>
            </a:r>
            <a:endParaRPr/>
          </a:p>
        </p:txBody>
      </p:sp>
      <p:sp>
        <p:nvSpPr>
          <p:cNvPr id="142" name="Google Shape;142;p2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Clr>
                <a:schemeClr val="dk1"/>
              </a:buClr>
              <a:buSzPts val="1100"/>
              <a:buFont typeface="Arial"/>
              <a:buNone/>
            </a:pPr>
            <a:r>
              <a:rPr b="1" lang="en">
                <a:latin typeface="Economica"/>
                <a:ea typeface="Economica"/>
                <a:cs typeface="Economica"/>
                <a:sym typeface="Economica"/>
              </a:rPr>
              <a:t>Advantage of ILM Paradigm:</a:t>
            </a:r>
            <a:endParaRPr b="1">
              <a:latin typeface="Economica"/>
              <a:ea typeface="Economica"/>
              <a:cs typeface="Economica"/>
              <a:sym typeface="Economica"/>
            </a:endParaRPr>
          </a:p>
          <a:p>
            <a:pPr indent="0" lvl="0" marL="0" rtl="0" algn="l">
              <a:spcBef>
                <a:spcPts val="1200"/>
              </a:spcBef>
              <a:spcAft>
                <a:spcPts val="0"/>
              </a:spcAft>
              <a:buNone/>
            </a:pPr>
            <a:r>
              <a:rPr lang="en">
                <a:latin typeface="Economica"/>
                <a:ea typeface="Economica"/>
                <a:cs typeface="Economica"/>
                <a:sym typeface="Economica"/>
              </a:rPr>
              <a:t>-&gt; The ILM paradigm is more efficient than QA fine-tuning, requiring fewer tokens and lower compute for training and inference, without compromising performance.</a:t>
            </a:r>
            <a:endParaRPr>
              <a:latin typeface="Economica"/>
              <a:ea typeface="Economica"/>
              <a:cs typeface="Economica"/>
              <a:sym typeface="Economica"/>
            </a:endParaRPr>
          </a:p>
          <a:p>
            <a:pPr indent="0" lvl="0" marL="0" rtl="0" algn="l">
              <a:spcBef>
                <a:spcPts val="1200"/>
              </a:spcBef>
              <a:spcAft>
                <a:spcPts val="0"/>
              </a:spcAft>
              <a:buNone/>
            </a:pPr>
            <a:r>
              <a:t/>
            </a:r>
            <a:endParaRPr>
              <a:latin typeface="Economica"/>
              <a:ea typeface="Economica"/>
              <a:cs typeface="Economica"/>
              <a:sym typeface="Economica"/>
            </a:endParaRPr>
          </a:p>
          <a:p>
            <a:pPr indent="0" lvl="0" marL="0" rtl="0" algn="l">
              <a:spcBef>
                <a:spcPts val="1200"/>
              </a:spcBef>
              <a:spcAft>
                <a:spcPts val="0"/>
              </a:spcAft>
              <a:buClr>
                <a:schemeClr val="dk1"/>
              </a:buClr>
              <a:buSzPts val="1100"/>
              <a:buFont typeface="Arial"/>
              <a:buNone/>
            </a:pPr>
            <a:r>
              <a:rPr b="1" lang="en">
                <a:latin typeface="Economica"/>
                <a:ea typeface="Economica"/>
                <a:cs typeface="Economica"/>
                <a:sym typeface="Economica"/>
              </a:rPr>
              <a:t>Efficiency of Smaller LLM  </a:t>
            </a:r>
            <a:r>
              <a:rPr b="1" lang="en">
                <a:latin typeface="Economica"/>
                <a:ea typeface="Economica"/>
                <a:cs typeface="Economica"/>
                <a:sym typeface="Economica"/>
              </a:rPr>
              <a:t>fine tuning</a:t>
            </a:r>
            <a:r>
              <a:rPr b="1" lang="en">
                <a:latin typeface="Economica"/>
                <a:ea typeface="Economica"/>
                <a:cs typeface="Economica"/>
                <a:sym typeface="Economica"/>
              </a:rPr>
              <a:t>:</a:t>
            </a:r>
            <a:endParaRPr b="1">
              <a:latin typeface="Economica"/>
              <a:ea typeface="Economica"/>
              <a:cs typeface="Economica"/>
              <a:sym typeface="Economica"/>
            </a:endParaRPr>
          </a:p>
          <a:p>
            <a:pPr indent="0" lvl="0" marL="0" rtl="0" algn="l">
              <a:spcBef>
                <a:spcPts val="1200"/>
              </a:spcBef>
              <a:spcAft>
                <a:spcPts val="0"/>
              </a:spcAft>
              <a:buNone/>
            </a:pPr>
            <a:r>
              <a:rPr lang="en">
                <a:latin typeface="Economica"/>
                <a:ea typeface="Economica"/>
                <a:cs typeface="Economica"/>
                <a:sym typeface="Economica"/>
              </a:rPr>
              <a:t>-&gt; Unlike the resource-intensive fine-tuning of GPT-3.5 and GPT-4 used in </a:t>
            </a:r>
            <a:r>
              <a:rPr lang="en">
                <a:latin typeface="Economica"/>
                <a:ea typeface="Economica"/>
                <a:cs typeface="Economica"/>
                <a:sym typeface="Economica"/>
              </a:rPr>
              <a:t>Extract GPT</a:t>
            </a:r>
            <a:r>
              <a:rPr lang="en">
                <a:latin typeface="Economica"/>
                <a:ea typeface="Economica"/>
                <a:cs typeface="Economica"/>
                <a:sym typeface="Economica"/>
              </a:rPr>
              <a:t>, smaller LLMs with </a:t>
            </a:r>
            <a:r>
              <a:rPr lang="en">
                <a:latin typeface="Economica"/>
                <a:ea typeface="Economica"/>
                <a:cs typeface="Economica"/>
                <a:sym typeface="Economica"/>
              </a:rPr>
              <a:t>QLoRA</a:t>
            </a:r>
            <a:r>
              <a:rPr lang="en">
                <a:latin typeface="Economica"/>
                <a:ea typeface="Economica"/>
                <a:cs typeface="Economica"/>
                <a:sym typeface="Economica"/>
              </a:rPr>
              <a:t> achieve significant gains with a simpler training process, making dataset-specific fine-tuning preferable over using a generalized model.</a:t>
            </a:r>
            <a:endParaRPr>
              <a:latin typeface="Economica"/>
              <a:ea typeface="Economica"/>
              <a:cs typeface="Economica"/>
              <a:sym typeface="Economica"/>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